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60" r:id="rId2"/>
  </p:sldMasterIdLst>
  <p:notesMasterIdLst>
    <p:notesMasterId r:id="rId11"/>
  </p:notesMasterIdLst>
  <p:sldIdLst>
    <p:sldId id="256" r:id="rId3"/>
    <p:sldId id="271" r:id="rId4"/>
    <p:sldId id="272" r:id="rId5"/>
    <p:sldId id="275" r:id="rId6"/>
    <p:sldId id="274" r:id="rId7"/>
    <p:sldId id="257" r:id="rId8"/>
    <p:sldId id="265" r:id="rId9"/>
    <p:sldId id="259" r:id="rId10"/>
  </p:sldIdLst>
  <p:sldSz cx="14630400" cy="8229600"/>
  <p:notesSz cx="8229600" cy="14630400"/>
  <p:embeddedFontLst>
    <p:embeddedFont>
      <p:font typeface="Manrope" panose="020B0604020202020204" charset="0"/>
      <p:regular r:id="rId12"/>
    </p:embeddedFont>
    <p:embeddedFont>
      <p:font typeface="Prata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D4BA"/>
    <a:srgbClr val="3F1A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3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1219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797F1-5132-5E49-12D9-F042CE734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B16B0C-7AB8-6FD1-68BB-EBAC3CBF94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6593AD-F71A-D72E-0BCB-E3E1B60A15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D2145B-92B7-AD58-00D5-20347D992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8614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569CE-366B-CD34-E839-D64915368A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200"/>
            <a:ext cx="10972800" cy="2865438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68D6DC-F9CE-FB70-9E00-A0B19AD461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763"/>
            <a:ext cx="10972800" cy="19859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063D6-456D-4D6B-5E1A-64CD73C7A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8ADDC-15AC-44AC-A0A6-816FA08C4422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693230-4838-36CF-F728-B3D9184E5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75E26-0D97-691B-64CC-CF41BE14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193B6-D61E-4CEE-9C82-4604D0EFF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7655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A86FE-C3B3-26D9-33DB-2DDE8DBD8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F82BA-5DFE-E53A-D4D0-F29E98AA1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8ED934-E557-7BCC-0184-DC5A10F54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8ADDC-15AC-44AC-A0A6-816FA08C4422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1D150-462A-337E-E986-409CDD657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5D5F7-3E4D-469A-6003-047751C04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193B6-D61E-4CEE-9C82-4604D0EFF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5764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7868C-26EF-919A-7FAB-63BA34CB1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538" y="2051050"/>
            <a:ext cx="12619037" cy="342423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BCA6F0-639B-F550-E8F4-ADEC644398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538" y="5507038"/>
            <a:ext cx="12619037" cy="18002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077FE-B82D-7271-568B-ABD391D58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8ADDC-15AC-44AC-A0A6-816FA08C4422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F776B-06B9-9BA2-8405-99EFAD780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02ED8-0E84-870C-D087-EB0631BF9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193B6-D61E-4CEE-9C82-4604D0EFF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7119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2C93D-45B6-5A24-89E6-606C8042C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67EAB-5978-F25A-CD4A-E00BFFCF67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6475" y="2190750"/>
            <a:ext cx="6232525" cy="5221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5AAFE4-6D94-3167-CE74-3C4B5EFE27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91400" y="2190750"/>
            <a:ext cx="6232525" cy="5221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346633-8022-80EB-7457-6052EE486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8ADDC-15AC-44AC-A0A6-816FA08C4422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2F0283-CDC4-81D9-2901-1C4E98D52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3C257C-40B8-8403-1133-000424C71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193B6-D61E-4CEE-9C82-4604D0EFF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3498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8412B-6A84-7C5E-F768-5E67B9061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063" y="438150"/>
            <a:ext cx="12619037" cy="15906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45E1EE-231F-4818-83C6-FB35EE73BF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8063" y="2017713"/>
            <a:ext cx="6189662" cy="989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052BB3-B319-096B-FD2C-E3818DC85B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8063" y="3006725"/>
            <a:ext cx="6189662" cy="4421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262BC6-4ACD-D841-C88D-1EA8BCA40C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7275" y="2017713"/>
            <a:ext cx="6219825" cy="989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010A2D-80AC-0F0F-369D-FC11E2E546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7275" y="3006725"/>
            <a:ext cx="6219825" cy="4421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EE1BCE-11DE-AC3C-D604-6E409F138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8ADDC-15AC-44AC-A0A6-816FA08C4422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86A696-172B-AE54-5AAA-1C58260F7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7ED971-9BF4-1667-F9AD-1DE0D33E8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193B6-D61E-4CEE-9C82-4604D0EFF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8551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FB9C7-F2AD-1C85-4FC4-2C363D5DE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C8E35A-206F-6280-A743-58CA56DC2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8ADDC-15AC-44AC-A0A6-816FA08C4422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1627A-9CBA-41F5-0A05-640DA08B5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A35945-ACA2-E739-E1BB-83886245B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193B6-D61E-4CEE-9C82-4604D0EFF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9171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A162A3-148A-9925-1072-5D255284C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8ADDC-15AC-44AC-A0A6-816FA08C4422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83C157-8DC4-8E8E-FADB-89A8922FC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0DA079-D5D5-BBB4-6080-27725EF2B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193B6-D61E-4CEE-9C82-4604D0EFF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6698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014F9-87BE-62B5-42FB-2FF44F603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063" y="549275"/>
            <a:ext cx="4718050" cy="19192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2CF4B-37E2-9607-D96D-C94F03850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5" y="1184275"/>
            <a:ext cx="7407275" cy="58483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750321-BB24-6181-60A6-C20102C13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8063" y="2468563"/>
            <a:ext cx="4718050" cy="45735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FA707A-6FD7-E038-8E39-6BA629A4F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8ADDC-15AC-44AC-A0A6-816FA08C4422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88F407-6845-4DD0-10D1-2AE1AA7E8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FA2094-DB12-2644-31D2-2617D3471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193B6-D61E-4CEE-9C82-4604D0EFF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3173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074E5-AE64-DA4E-06F2-EEF26A54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063" y="549275"/>
            <a:ext cx="4718050" cy="19192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F53DF7-1733-CA97-169C-58F30727E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5" y="1184275"/>
            <a:ext cx="7407275" cy="58483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117C86-85BD-CECB-F61C-B2F777D161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8063" y="2468563"/>
            <a:ext cx="4718050" cy="45735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BA81B4-2DE8-2E2B-DA88-B33BAF793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8ADDC-15AC-44AC-A0A6-816FA08C4422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5DEE9F-EE66-7B3A-F185-539E92B19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B47F17-F24E-4BF3-BFD3-A5FFC2C1C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193B6-D61E-4CEE-9C82-4604D0EFF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2999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47970-AE5E-CE5A-B9C1-419853F92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6C0421-1DFD-6AF0-EC8A-82BEE984D0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47C7E-04ED-2BC7-00BE-6CBED6B82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8ADDC-15AC-44AC-A0A6-816FA08C4422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2B940-E89D-322A-3A42-93E4C7F7D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92911E-A340-B3B2-EBDD-A72E5764B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193B6-D61E-4CEE-9C82-4604D0EFF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0552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05C9B9-778F-0E20-8CAD-B12111B919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563" y="438150"/>
            <a:ext cx="3154362" cy="6973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7A42C1-283A-93E7-3564-736B21DED3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6475" y="438150"/>
            <a:ext cx="9310688" cy="6973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42802-4DF0-8B5B-E59B-5A99FFFA7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8ADDC-15AC-44AC-A0A6-816FA08C4422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E58E4-1831-6797-2A22-F024970FE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80B20-B86F-D3C4-043B-3406A4475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193B6-D61E-4CEE-9C82-4604D0EFF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307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F1A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0EF0FC-2CBB-44F1-B345-17ADDC4E0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475" y="438150"/>
            <a:ext cx="12617450" cy="1590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FF845E-B8EB-6960-3459-9E93197B91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6475" y="2190750"/>
            <a:ext cx="12617450" cy="52212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AD476-6099-88AC-D646-A78D703458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6475" y="7627938"/>
            <a:ext cx="3290888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1B88ADDC-15AC-44AC-A0A6-816FA08C4422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FECD8A-3C76-8CF0-81D3-963F3249C9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638" y="7627938"/>
            <a:ext cx="4937125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EA53F2-CF22-F6CE-45DE-8791EF3C3E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3038" y="7627938"/>
            <a:ext cx="3290887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B8C193B6-D61E-4CEE-9C82-4604D0EFF3C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545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g"/><Relationship Id="rId3" Type="http://schemas.openxmlformats.org/officeDocument/2006/relationships/image" Target="../media/image14.png"/><Relationship Id="rId7" Type="http://schemas.openxmlformats.org/officeDocument/2006/relationships/image" Target="../media/image1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jpg"/><Relationship Id="rId11" Type="http://schemas.openxmlformats.org/officeDocument/2006/relationships/image" Target="../media/image22.svg"/><Relationship Id="rId5" Type="http://schemas.openxmlformats.org/officeDocument/2006/relationships/image" Target="../media/image16.jpg"/><Relationship Id="rId10" Type="http://schemas.openxmlformats.org/officeDocument/2006/relationships/image" Target="../media/image21.png"/><Relationship Id="rId4" Type="http://schemas.openxmlformats.org/officeDocument/2006/relationships/image" Target="../media/image15.jp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1769484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D4BA"/>
                </a:solidFill>
                <a:latin typeface="Prata" pitchFamily="34" charset="0"/>
              </a:rPr>
              <a:t>ASTRO-PI</a:t>
            </a:r>
          </a:p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D4BA"/>
                </a:solidFill>
                <a:latin typeface="Prata" pitchFamily="34" charset="0"/>
              </a:rPr>
              <a:t>Misson Space Lab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89" y="5069402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Team TKOGSS-ASTRO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</a:rPr>
              <a:t>Hayden Lee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</a:rPr>
              <a:t>XXX</a:t>
            </a:r>
            <a:endParaRPr lang="en-US" sz="1750"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EE840FEA-DB6E-7969-7FD9-F27EEDE4E8FA}"/>
              </a:ext>
            </a:extLst>
          </p:cNvPr>
          <p:cNvSpPr/>
          <p:nvPr/>
        </p:nvSpPr>
        <p:spPr>
          <a:xfrm>
            <a:off x="6198791" y="3766837"/>
            <a:ext cx="660162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28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Use Astro-Pi + Python to Calculate the ISS Speed</a:t>
            </a:r>
            <a:endParaRPr lang="en-US" sz="2800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F6BDB0CE-72F3-878D-9CCE-57843506742D}"/>
              </a:ext>
            </a:extLst>
          </p:cNvPr>
          <p:cNvGrpSpPr/>
          <p:nvPr/>
        </p:nvGrpSpPr>
        <p:grpSpPr>
          <a:xfrm>
            <a:off x="340986" y="0"/>
            <a:ext cx="4789814" cy="8229600"/>
            <a:chOff x="0" y="0"/>
            <a:chExt cx="814724" cy="1267949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E3EC73AA-1EA6-7D9C-39A0-E9A9F1ED434B}"/>
                </a:ext>
              </a:extLst>
            </p:cNvPr>
            <p:cNvSpPr/>
            <p:nvPr/>
          </p:nvSpPr>
          <p:spPr>
            <a:xfrm>
              <a:off x="0" y="0"/>
              <a:ext cx="814724" cy="1267949"/>
            </a:xfrm>
            <a:custGeom>
              <a:avLst/>
              <a:gdLst/>
              <a:ahLst/>
              <a:cxnLst/>
              <a:rect l="l" t="t" r="r" b="b"/>
              <a:pathLst>
                <a:path w="814724" h="1267949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3"/>
              <a:stretch>
                <a:fillRect t="-199" b="-19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026" name="Picture 2" descr="&#10;Tseung Kwan O Government Secondary School">
            <a:extLst>
              <a:ext uri="{FF2B5EF4-FFF2-40B4-BE49-F238E27FC236}">
                <a16:creationId xmlns:a16="http://schemas.microsoft.com/office/drawing/2014/main" id="{B7D59919-1812-C876-B0E8-71C68DA09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5300" y="7331691"/>
            <a:ext cx="3784600" cy="732294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563F7-62E3-7923-8AE5-14B47E691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B5D4F3D5-A014-6D74-E843-F6FBDAB7BF2A}"/>
              </a:ext>
            </a:extLst>
          </p:cNvPr>
          <p:cNvSpPr/>
          <p:nvPr/>
        </p:nvSpPr>
        <p:spPr>
          <a:xfrm>
            <a:off x="6838990" y="2337197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D4BA"/>
                </a:solidFill>
                <a:latin typeface="Prata" pitchFamily="34" charset="0"/>
              </a:rPr>
              <a:t>How to get the ISS speed?</a:t>
            </a:r>
            <a:endParaRPr lang="en-US" sz="44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04BBF0DF-8918-B253-6BFD-8A76B117F431}"/>
              </a:ext>
            </a:extLst>
          </p:cNvPr>
          <p:cNvSpPr/>
          <p:nvPr/>
        </p:nvSpPr>
        <p:spPr>
          <a:xfrm>
            <a:off x="6864390" y="3556000"/>
            <a:ext cx="7556421" cy="425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</a:rPr>
              <a:t>Upload the main.py to ISS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</a:rPr>
              <a:t>Astro-Pi: Take a photo per 5s for 3 mins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</a:rPr>
              <a:t>Save the 36 images as image#N.jpg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</a:rPr>
              <a:t>Calculate the speed by every 2 consecutive images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</a:rPr>
              <a:t>Use EXIF library to get the image taken time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</a:rPr>
              <a:t>Find the time difference between 2 images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</a:rPr>
              <a:t>Calculate the distance moved by counting the no. of pixels moved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</a:rPr>
              <a:t>Find a list of speed by dividing the distance by time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</a:rPr>
              <a:t>Exclude the outliners +- 20%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</a:rPr>
              <a:t>Estimated  speed  = Average values of the remaining speeds </a:t>
            </a:r>
            <a:endParaRPr lang="en-US" sz="17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480DF02-EAD7-7759-3E51-C341668881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502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427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>
            <a:extLst>
              <a:ext uri="{FF2B5EF4-FFF2-40B4-BE49-F238E27FC236}">
                <a16:creationId xmlns:a16="http://schemas.microsoft.com/office/drawing/2014/main" id="{1F3DB809-4B82-97EC-5F8B-7A165498496A}"/>
              </a:ext>
            </a:extLst>
          </p:cNvPr>
          <p:cNvGrpSpPr/>
          <p:nvPr/>
        </p:nvGrpSpPr>
        <p:grpSpPr>
          <a:xfrm>
            <a:off x="2025650" y="2476500"/>
            <a:ext cx="10579100" cy="5753100"/>
            <a:chOff x="0" y="0"/>
            <a:chExt cx="1471052" cy="823089"/>
          </a:xfrm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12073B78-4816-E92F-541B-CD52D3F3A83A}"/>
                </a:ext>
              </a:extLst>
            </p:cNvPr>
            <p:cNvSpPr/>
            <p:nvPr/>
          </p:nvSpPr>
          <p:spPr>
            <a:xfrm>
              <a:off x="0" y="0"/>
              <a:ext cx="1471052" cy="823089"/>
            </a:xfrm>
            <a:custGeom>
              <a:avLst/>
              <a:gdLst/>
              <a:ahLst/>
              <a:cxnLst/>
              <a:rect l="l" t="t" r="r" b="b"/>
              <a:pathLst>
                <a:path w="1471052" h="823089">
                  <a:moveTo>
                    <a:pt x="13823" y="0"/>
                  </a:moveTo>
                  <a:lnTo>
                    <a:pt x="1457229" y="0"/>
                  </a:lnTo>
                  <a:cubicBezTo>
                    <a:pt x="1460895" y="0"/>
                    <a:pt x="1464411" y="1456"/>
                    <a:pt x="1467004" y="4049"/>
                  </a:cubicBezTo>
                  <a:cubicBezTo>
                    <a:pt x="1469596" y="6641"/>
                    <a:pt x="1471052" y="10157"/>
                    <a:pt x="1471052" y="13823"/>
                  </a:cubicBezTo>
                  <a:lnTo>
                    <a:pt x="1471052" y="809266"/>
                  </a:lnTo>
                  <a:cubicBezTo>
                    <a:pt x="1471052" y="812932"/>
                    <a:pt x="1469596" y="816448"/>
                    <a:pt x="1467004" y="819040"/>
                  </a:cubicBezTo>
                  <a:cubicBezTo>
                    <a:pt x="1464411" y="821632"/>
                    <a:pt x="1460895" y="823089"/>
                    <a:pt x="1457229" y="823089"/>
                  </a:cubicBezTo>
                  <a:lnTo>
                    <a:pt x="13823" y="823089"/>
                  </a:lnTo>
                  <a:cubicBezTo>
                    <a:pt x="10157" y="823089"/>
                    <a:pt x="6641" y="821632"/>
                    <a:pt x="4049" y="819040"/>
                  </a:cubicBezTo>
                  <a:cubicBezTo>
                    <a:pt x="1456" y="816448"/>
                    <a:pt x="0" y="812932"/>
                    <a:pt x="0" y="809266"/>
                  </a:cubicBezTo>
                  <a:lnTo>
                    <a:pt x="0" y="13823"/>
                  </a:lnTo>
                  <a:cubicBezTo>
                    <a:pt x="0" y="10157"/>
                    <a:pt x="1456" y="6641"/>
                    <a:pt x="4049" y="4049"/>
                  </a:cubicBezTo>
                  <a:cubicBezTo>
                    <a:pt x="6641" y="1456"/>
                    <a:pt x="10157" y="0"/>
                    <a:pt x="13823" y="0"/>
                  </a:cubicBezTo>
                  <a:close/>
                </a:path>
              </a:pathLst>
            </a:custGeom>
            <a:blipFill>
              <a:blip r:embed="rId2"/>
              <a:stretch>
                <a:fillRect l="-521" r="-52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A2E4CEFD-4C30-65D5-E25D-D5C7A13C7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7050" y="2816188"/>
            <a:ext cx="628671" cy="6286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10A3E87-8336-88F1-98B8-E4538B3F7A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6703" y="2835262"/>
            <a:ext cx="628671" cy="6286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A3BFC3-0D1F-C2E9-B30D-9E76740A6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8163" y="2546328"/>
            <a:ext cx="628671" cy="628671"/>
          </a:xfrm>
          <a:prstGeom prst="rect">
            <a:avLst/>
          </a:prstGeom>
        </p:spPr>
      </p:pic>
      <p:sp>
        <p:nvSpPr>
          <p:cNvPr id="8" name="Text 0">
            <a:extLst>
              <a:ext uri="{FF2B5EF4-FFF2-40B4-BE49-F238E27FC236}">
                <a16:creationId xmlns:a16="http://schemas.microsoft.com/office/drawing/2014/main" id="{BD3D556C-2550-26BC-91DF-07C3D5119124}"/>
              </a:ext>
            </a:extLst>
          </p:cNvPr>
          <p:cNvSpPr/>
          <p:nvPr/>
        </p:nvSpPr>
        <p:spPr>
          <a:xfrm>
            <a:off x="679490" y="385326"/>
            <a:ext cx="907411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D4BA"/>
                </a:solidFill>
                <a:latin typeface="Prata" pitchFamily="34" charset="0"/>
              </a:rPr>
              <a:t>Take Photos in a Regular Interval </a:t>
            </a:r>
            <a:endParaRPr lang="en-US" sz="44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CEB94C0-ED6F-8429-EF4D-F624ECF76C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1181" y="1735544"/>
            <a:ext cx="1212850" cy="90926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69E0967-86BB-BA31-D9AB-0326BF5014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0425" y="1312088"/>
            <a:ext cx="1214899" cy="9108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92D55B5-C8C5-C5D1-54C6-AB14CFE1AF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8701" y="1735544"/>
            <a:ext cx="1214899" cy="9108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2288BF5-63BD-6149-B6E6-BF80753EE9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80074" flipV="1">
            <a:off x="6106197" y="2840817"/>
            <a:ext cx="626994" cy="39593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3822D52-48A2-017E-2A76-12B3278B23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5967" flipV="1">
            <a:off x="7983573" y="2893579"/>
            <a:ext cx="571517" cy="365108"/>
          </a:xfrm>
          <a:prstGeom prst="rect">
            <a:avLst/>
          </a:prstGeom>
        </p:spPr>
      </p:pic>
      <p:sp>
        <p:nvSpPr>
          <p:cNvPr id="20" name="Text 1">
            <a:extLst>
              <a:ext uri="{FF2B5EF4-FFF2-40B4-BE49-F238E27FC236}">
                <a16:creationId xmlns:a16="http://schemas.microsoft.com/office/drawing/2014/main" id="{FC93AEE7-BE10-72C0-EC2F-24433852E8DB}"/>
              </a:ext>
            </a:extLst>
          </p:cNvPr>
          <p:cNvSpPr/>
          <p:nvPr/>
        </p:nvSpPr>
        <p:spPr>
          <a:xfrm>
            <a:off x="6300483" y="1687269"/>
            <a:ext cx="466673" cy="441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32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…</a:t>
            </a:r>
            <a:endParaRPr lang="en-US" sz="3200" dirty="0"/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B1494A50-7B89-EED9-DD54-7424A2E84947}"/>
              </a:ext>
            </a:extLst>
          </p:cNvPr>
          <p:cNvSpPr/>
          <p:nvPr/>
        </p:nvSpPr>
        <p:spPr>
          <a:xfrm>
            <a:off x="8105801" y="1711496"/>
            <a:ext cx="466673" cy="441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32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…</a:t>
            </a:r>
            <a:endParaRPr lang="en-US" sz="3200" dirty="0"/>
          </a:p>
        </p:txBody>
      </p:sp>
      <p:sp>
        <p:nvSpPr>
          <p:cNvPr id="22" name="Flowchart: Manual Operation 21">
            <a:extLst>
              <a:ext uri="{FF2B5EF4-FFF2-40B4-BE49-F238E27FC236}">
                <a16:creationId xmlns:a16="http://schemas.microsoft.com/office/drawing/2014/main" id="{727CD075-7C64-03A2-BFEA-B12A73CE228C}"/>
              </a:ext>
            </a:extLst>
          </p:cNvPr>
          <p:cNvSpPr/>
          <p:nvPr/>
        </p:nvSpPr>
        <p:spPr>
          <a:xfrm rot="10800000">
            <a:off x="4821126" y="3463933"/>
            <a:ext cx="1270000" cy="1727200"/>
          </a:xfrm>
          <a:prstGeom prst="flowChartManualOperation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lowchart: Manual Operation 22">
            <a:extLst>
              <a:ext uri="{FF2B5EF4-FFF2-40B4-BE49-F238E27FC236}">
                <a16:creationId xmlns:a16="http://schemas.microsoft.com/office/drawing/2014/main" id="{AFA5449C-9061-F4CB-12B0-13AE53C8CC16}"/>
              </a:ext>
            </a:extLst>
          </p:cNvPr>
          <p:cNvSpPr/>
          <p:nvPr/>
        </p:nvSpPr>
        <p:spPr>
          <a:xfrm rot="10800000">
            <a:off x="6651612" y="3174999"/>
            <a:ext cx="1270000" cy="1727200"/>
          </a:xfrm>
          <a:prstGeom prst="flowChartManualOperation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lowchart: Manual Operation 23">
            <a:extLst>
              <a:ext uri="{FF2B5EF4-FFF2-40B4-BE49-F238E27FC236}">
                <a16:creationId xmlns:a16="http://schemas.microsoft.com/office/drawing/2014/main" id="{F9C8E2FC-A6DD-D7BE-2ABE-7DCB6E10DAA6}"/>
              </a:ext>
            </a:extLst>
          </p:cNvPr>
          <p:cNvSpPr/>
          <p:nvPr/>
        </p:nvSpPr>
        <p:spPr>
          <a:xfrm rot="10800000">
            <a:off x="8450376" y="3413133"/>
            <a:ext cx="1270000" cy="1727200"/>
          </a:xfrm>
          <a:prstGeom prst="flowChartManualOperation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004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A91853-0219-CE02-9B8A-19C326A89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2972" y="1244600"/>
            <a:ext cx="6743700" cy="67437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5DD3DFAA-58C9-7116-3975-6847BBF6953F}"/>
              </a:ext>
            </a:extLst>
          </p:cNvPr>
          <p:cNvSpPr/>
          <p:nvPr/>
        </p:nvSpPr>
        <p:spPr>
          <a:xfrm>
            <a:off x="679490" y="385326"/>
            <a:ext cx="907411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D4BA"/>
                </a:solidFill>
                <a:latin typeface="Prata" pitchFamily="34" charset="0"/>
              </a:rPr>
              <a:t>Use ORB Algorithm to Find Matches points</a:t>
            </a:r>
            <a:endParaRPr lang="en-US" sz="44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F6197A3-1769-1BE8-6233-7C8B6A7E4DF1}"/>
              </a:ext>
            </a:extLst>
          </p:cNvPr>
          <p:cNvSpPr/>
          <p:nvPr/>
        </p:nvSpPr>
        <p:spPr>
          <a:xfrm>
            <a:off x="679490" y="2365692"/>
            <a:ext cx="5975310" cy="1317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850"/>
              </a:lnSpc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ORB = Oriented FAST (Features from Accelerated Segment Test) and Rotated BRIEF (Binary Robust Independent Elementary Features)</a:t>
            </a: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0C4B9044-1BBF-DCD5-173B-27EE72EF22FD}"/>
              </a:ext>
            </a:extLst>
          </p:cNvPr>
          <p:cNvSpPr/>
          <p:nvPr/>
        </p:nvSpPr>
        <p:spPr>
          <a:xfrm>
            <a:off x="965200" y="4332962"/>
            <a:ext cx="4959310" cy="1317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 simple word, it is a method used to identify the same point in two images by some distinctive features</a:t>
            </a:r>
          </a:p>
        </p:txBody>
      </p:sp>
      <p:pic>
        <p:nvPicPr>
          <p:cNvPr id="8" name="Image 2" descr="preencoded.png">
            <a:extLst>
              <a:ext uri="{FF2B5EF4-FFF2-40B4-BE49-F238E27FC236}">
                <a16:creationId xmlns:a16="http://schemas.microsoft.com/office/drawing/2014/main" id="{A3DB3B42-37EF-E77A-CE36-F00857CA04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8224" y="4100274"/>
            <a:ext cx="566976" cy="566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971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911EF2-0FAB-D701-40A9-8EF0F7AF7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948" y="2921000"/>
            <a:ext cx="11625503" cy="455574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862AEAAC-8F19-D48D-2BBB-CF83C4245263}"/>
              </a:ext>
            </a:extLst>
          </p:cNvPr>
          <p:cNvSpPr/>
          <p:nvPr/>
        </p:nvSpPr>
        <p:spPr>
          <a:xfrm>
            <a:off x="603290" y="57582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Find the Matches</a:t>
            </a:r>
            <a:endParaRPr lang="en-US" sz="445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92978FDA-EE54-5B88-7D15-1115B9A412F0}"/>
              </a:ext>
            </a:extLst>
          </p:cNvPr>
          <p:cNvSpPr/>
          <p:nvPr/>
        </p:nvSpPr>
        <p:spPr>
          <a:xfrm>
            <a:off x="603290" y="1624767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By the matching points, calculate the pixel movement between two photos. Based on the mission space lab reference example, 1 pixel ≈ 0.126km, thus distance = pixel changes x 0.126km</a:t>
            </a:r>
            <a:endParaRPr lang="en-US" sz="175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06A0A025-E8CE-2865-996F-A88E9D6E83F3}"/>
              </a:ext>
            </a:extLst>
          </p:cNvPr>
          <p:cNvSpPr/>
          <p:nvPr/>
        </p:nvSpPr>
        <p:spPr>
          <a:xfrm>
            <a:off x="4535250" y="3318160"/>
            <a:ext cx="3477259" cy="159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i="1" dirty="0">
                <a:solidFill>
                  <a:schemeClr val="bg2">
                    <a:lumMod val="25000"/>
                  </a:scheme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Convert JPG to OpenCV format for further processing by the ORB Brute-Force  matching to find the match points </a:t>
            </a:r>
          </a:p>
        </p:txBody>
      </p:sp>
    </p:spTree>
    <p:extLst>
      <p:ext uri="{BB962C8B-B14F-4D97-AF65-F5344CB8AC3E}">
        <p14:creationId xmlns:p14="http://schemas.microsoft.com/office/powerpoint/2010/main" val="3056153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3577352"/>
            <a:ext cx="1222371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Calculate speeds and Exclude the outliners</a:t>
            </a:r>
            <a:endParaRPr lang="en-US" sz="44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767D0F5-9BBE-4BD8-7F03-A4AFD48702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79415"/>
            <a:ext cx="9753600" cy="334803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EA5346E-D50A-39BA-F4FD-E63178F03A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8808" y="5689600"/>
            <a:ext cx="1440592" cy="108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664F3AD-1187-3DDA-F1D2-5CE87CB6C6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5320" y="5689600"/>
            <a:ext cx="1440592" cy="108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B2E9873-6A0E-69FF-7C0D-914F892A94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2936" y="5689600"/>
            <a:ext cx="1440592" cy="108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A7BA279-8E8D-963A-F398-9301C2A8AC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7064" y="5689600"/>
            <a:ext cx="1440592" cy="108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078F6A8-38A5-7FF0-D1FD-3A24644C86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21192" y="5689600"/>
            <a:ext cx="1440592" cy="108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1" name="Arrow: Curved Down 30">
            <a:extLst>
              <a:ext uri="{FF2B5EF4-FFF2-40B4-BE49-F238E27FC236}">
                <a16:creationId xmlns:a16="http://schemas.microsoft.com/office/drawing/2014/main" id="{6F0AEAE4-2281-2C18-663E-F0621902F2ED}"/>
              </a:ext>
            </a:extLst>
          </p:cNvPr>
          <p:cNvSpPr/>
          <p:nvPr/>
        </p:nvSpPr>
        <p:spPr>
          <a:xfrm>
            <a:off x="2598009" y="5067300"/>
            <a:ext cx="1440592" cy="533400"/>
          </a:xfrm>
          <a:prstGeom prst="curvedDownArrow">
            <a:avLst/>
          </a:prstGeom>
          <a:solidFill>
            <a:srgbClr val="F2D4BA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Arrow: Curved Down 31">
            <a:extLst>
              <a:ext uri="{FF2B5EF4-FFF2-40B4-BE49-F238E27FC236}">
                <a16:creationId xmlns:a16="http://schemas.microsoft.com/office/drawing/2014/main" id="{5CF42D96-7529-4734-19A0-28EF27477F4D}"/>
              </a:ext>
            </a:extLst>
          </p:cNvPr>
          <p:cNvSpPr/>
          <p:nvPr/>
        </p:nvSpPr>
        <p:spPr>
          <a:xfrm>
            <a:off x="5232400" y="5067300"/>
            <a:ext cx="1440592" cy="533400"/>
          </a:xfrm>
          <a:prstGeom prst="curvedDownArrow">
            <a:avLst/>
          </a:prstGeom>
          <a:solidFill>
            <a:srgbClr val="F2D4BA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Arrow: Curved Down 32">
            <a:extLst>
              <a:ext uri="{FF2B5EF4-FFF2-40B4-BE49-F238E27FC236}">
                <a16:creationId xmlns:a16="http://schemas.microsoft.com/office/drawing/2014/main" id="{486B9072-E80A-2EAB-76C6-3407EF3372BF}"/>
              </a:ext>
            </a:extLst>
          </p:cNvPr>
          <p:cNvSpPr/>
          <p:nvPr/>
        </p:nvSpPr>
        <p:spPr>
          <a:xfrm>
            <a:off x="7716109" y="5067300"/>
            <a:ext cx="1440592" cy="533400"/>
          </a:xfrm>
          <a:prstGeom prst="curvedDownArrow">
            <a:avLst/>
          </a:prstGeom>
          <a:solidFill>
            <a:srgbClr val="F2D4BA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Arrow: Curved Down 33">
            <a:extLst>
              <a:ext uri="{FF2B5EF4-FFF2-40B4-BE49-F238E27FC236}">
                <a16:creationId xmlns:a16="http://schemas.microsoft.com/office/drawing/2014/main" id="{85FDEF06-0398-B719-B6F6-2BAEDC66B870}"/>
              </a:ext>
            </a:extLst>
          </p:cNvPr>
          <p:cNvSpPr/>
          <p:nvPr/>
        </p:nvSpPr>
        <p:spPr>
          <a:xfrm>
            <a:off x="10286999" y="5067300"/>
            <a:ext cx="1440592" cy="533400"/>
          </a:xfrm>
          <a:prstGeom prst="curvedDownArrow">
            <a:avLst/>
          </a:prstGeom>
          <a:solidFill>
            <a:srgbClr val="F2D4BA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Text 3">
            <a:extLst>
              <a:ext uri="{FF2B5EF4-FFF2-40B4-BE49-F238E27FC236}">
                <a16:creationId xmlns:a16="http://schemas.microsoft.com/office/drawing/2014/main" id="{DDA2DDF9-75F7-FEE6-24B7-1D7B10DCFCE4}"/>
              </a:ext>
            </a:extLst>
          </p:cNvPr>
          <p:cNvSpPr/>
          <p:nvPr/>
        </p:nvSpPr>
        <p:spPr>
          <a:xfrm>
            <a:off x="2837512" y="4689573"/>
            <a:ext cx="1148901" cy="33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4.5 km/s</a:t>
            </a:r>
            <a:endParaRPr lang="en-US" sz="1750" dirty="0"/>
          </a:p>
        </p:txBody>
      </p:sp>
      <p:sp>
        <p:nvSpPr>
          <p:cNvPr id="36" name="Text 3">
            <a:extLst>
              <a:ext uri="{FF2B5EF4-FFF2-40B4-BE49-F238E27FC236}">
                <a16:creationId xmlns:a16="http://schemas.microsoft.com/office/drawing/2014/main" id="{523285DB-A067-8D7B-5B97-8A3E12171478}"/>
              </a:ext>
            </a:extLst>
          </p:cNvPr>
          <p:cNvSpPr/>
          <p:nvPr/>
        </p:nvSpPr>
        <p:spPr>
          <a:xfrm>
            <a:off x="5476841" y="4689573"/>
            <a:ext cx="930223" cy="33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7.4 km/s</a:t>
            </a:r>
            <a:endParaRPr lang="en-US" sz="1750" dirty="0"/>
          </a:p>
        </p:txBody>
      </p:sp>
      <p:sp>
        <p:nvSpPr>
          <p:cNvPr id="37" name="Text 3">
            <a:extLst>
              <a:ext uri="{FF2B5EF4-FFF2-40B4-BE49-F238E27FC236}">
                <a16:creationId xmlns:a16="http://schemas.microsoft.com/office/drawing/2014/main" id="{98A09C45-D2B3-828E-D58E-02DEBD5B58B1}"/>
              </a:ext>
            </a:extLst>
          </p:cNvPr>
          <p:cNvSpPr/>
          <p:nvPr/>
        </p:nvSpPr>
        <p:spPr>
          <a:xfrm>
            <a:off x="7878848" y="4689573"/>
            <a:ext cx="1092719" cy="33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7.6 km/s</a:t>
            </a:r>
            <a:endParaRPr lang="en-US" sz="1750" dirty="0"/>
          </a:p>
        </p:txBody>
      </p:sp>
      <p:sp>
        <p:nvSpPr>
          <p:cNvPr id="38" name="Text 3">
            <a:extLst>
              <a:ext uri="{FF2B5EF4-FFF2-40B4-BE49-F238E27FC236}">
                <a16:creationId xmlns:a16="http://schemas.microsoft.com/office/drawing/2014/main" id="{3C7BB663-FC91-BE47-C63C-2B6F1524C8DA}"/>
              </a:ext>
            </a:extLst>
          </p:cNvPr>
          <p:cNvSpPr/>
          <p:nvPr/>
        </p:nvSpPr>
        <p:spPr>
          <a:xfrm>
            <a:off x="10427356" y="4734004"/>
            <a:ext cx="1159877" cy="33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12.3 km/s</a:t>
            </a:r>
            <a:endParaRPr lang="en-US" sz="175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B7D26D43-A979-E2E9-9E4C-F4CB9C617BB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84361" y="4664173"/>
            <a:ext cx="476255" cy="476255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E41135A0-8261-615B-ECE4-E0F3794F35A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19967" y="4591045"/>
            <a:ext cx="476255" cy="476255"/>
          </a:xfrm>
          <a:prstGeom prst="rect">
            <a:avLst/>
          </a:prstGeom>
        </p:spPr>
      </p:pic>
      <p:sp>
        <p:nvSpPr>
          <p:cNvPr id="42" name="Text 3">
            <a:extLst>
              <a:ext uri="{FF2B5EF4-FFF2-40B4-BE49-F238E27FC236}">
                <a16:creationId xmlns:a16="http://schemas.microsoft.com/office/drawing/2014/main" id="{8E148ACB-F849-25B2-6B03-0521DC634C4A}"/>
              </a:ext>
            </a:extLst>
          </p:cNvPr>
          <p:cNvSpPr/>
          <p:nvPr/>
        </p:nvSpPr>
        <p:spPr>
          <a:xfrm>
            <a:off x="1682109" y="7304441"/>
            <a:ext cx="10749692" cy="639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32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Average Speed of ISS = (7.6 km/s + 7.5 km/s + …) / #N</a:t>
            </a:r>
            <a:endParaRPr lang="en-US" sz="3200" dirty="0">
              <a:solidFill>
                <a:srgbClr val="F2D4BA"/>
              </a:solidFill>
            </a:endParaRPr>
          </a:p>
        </p:txBody>
      </p:sp>
      <p:sp>
        <p:nvSpPr>
          <p:cNvPr id="43" name="Text 1">
            <a:extLst>
              <a:ext uri="{FF2B5EF4-FFF2-40B4-BE49-F238E27FC236}">
                <a16:creationId xmlns:a16="http://schemas.microsoft.com/office/drawing/2014/main" id="{0A814C91-FA15-958A-9423-DEDE7C501319}"/>
              </a:ext>
            </a:extLst>
          </p:cNvPr>
          <p:cNvSpPr/>
          <p:nvPr/>
        </p:nvSpPr>
        <p:spPr>
          <a:xfrm>
            <a:off x="7056955" y="4713142"/>
            <a:ext cx="466673" cy="441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32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…</a:t>
            </a:r>
            <a:endParaRPr lang="en-US" sz="3200" dirty="0"/>
          </a:p>
        </p:txBody>
      </p:sp>
      <p:pic>
        <p:nvPicPr>
          <p:cNvPr id="44" name="Image 2" descr="preencoded.png">
            <a:extLst>
              <a:ext uri="{FF2B5EF4-FFF2-40B4-BE49-F238E27FC236}">
                <a16:creationId xmlns:a16="http://schemas.microsoft.com/office/drawing/2014/main" id="{23A68A46-6647-42FF-32F2-D178BB1BF10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992544" y="4767024"/>
            <a:ext cx="511335" cy="566976"/>
          </a:xfrm>
          <a:prstGeom prst="rect">
            <a:avLst/>
          </a:prstGeom>
        </p:spPr>
      </p:pic>
      <p:sp>
        <p:nvSpPr>
          <p:cNvPr id="45" name="Text 4">
            <a:extLst>
              <a:ext uri="{FF2B5EF4-FFF2-40B4-BE49-F238E27FC236}">
                <a16:creationId xmlns:a16="http://schemas.microsoft.com/office/drawing/2014/main" id="{61947E67-7B6B-0311-61D8-C6186F9607BE}"/>
              </a:ext>
            </a:extLst>
          </p:cNvPr>
          <p:cNvSpPr/>
          <p:nvPr/>
        </p:nvSpPr>
        <p:spPr>
          <a:xfrm>
            <a:off x="12579811" y="4664173"/>
            <a:ext cx="2164889" cy="785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6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Exclude the bottom and top 20% values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54161"/>
            <a:ext cx="682930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What Did We Learn?</a:t>
            </a:r>
            <a:endParaRPr lang="en-US" sz="4450" dirty="0"/>
          </a:p>
        </p:txBody>
      </p:sp>
      <p:sp>
        <p:nvSpPr>
          <p:cNvPr id="6" name="Shape 3"/>
          <p:cNvSpPr/>
          <p:nvPr/>
        </p:nvSpPr>
        <p:spPr>
          <a:xfrm>
            <a:off x="304443" y="2043701"/>
            <a:ext cx="3778210" cy="2032754"/>
          </a:xfrm>
          <a:prstGeom prst="roundRect">
            <a:avLst>
              <a:gd name="adj" fmla="val 1674"/>
            </a:avLst>
          </a:prstGeom>
          <a:solidFill>
            <a:srgbClr val="4042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32281" y="24350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Prata" pitchFamily="34" charset="0"/>
              </a:rPr>
              <a:t>Python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32281" y="2925418"/>
            <a:ext cx="33245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FFFFFF"/>
                </a:solidFill>
                <a:latin typeface="Manrope" pitchFamily="34" charset="0"/>
              </a:rPr>
              <a:t>Learnt more programming knowledge and skills</a:t>
            </a:r>
            <a:endParaRPr lang="en-US" sz="1750" dirty="0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3E9E6EEF-3937-3C04-A923-896FC7AC77B9}"/>
              </a:ext>
            </a:extLst>
          </p:cNvPr>
          <p:cNvSpPr/>
          <p:nvPr/>
        </p:nvSpPr>
        <p:spPr>
          <a:xfrm>
            <a:off x="304443" y="4341843"/>
            <a:ext cx="3778210" cy="2032754"/>
          </a:xfrm>
          <a:prstGeom prst="roundRect">
            <a:avLst>
              <a:gd name="adj" fmla="val 1674"/>
            </a:avLst>
          </a:prstGeom>
          <a:solidFill>
            <a:srgbClr val="4042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BF0C0515-C888-E6C9-BA53-4638C0622958}"/>
              </a:ext>
            </a:extLst>
          </p:cNvPr>
          <p:cNvSpPr/>
          <p:nvPr/>
        </p:nvSpPr>
        <p:spPr>
          <a:xfrm>
            <a:off x="632281" y="47331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Prata" pitchFamily="34" charset="0"/>
              </a:rPr>
              <a:t>AI</a:t>
            </a:r>
            <a:endParaRPr lang="en-US" sz="2200" dirty="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A652232C-655B-7B77-3DF3-B885B2246FDD}"/>
              </a:ext>
            </a:extLst>
          </p:cNvPr>
          <p:cNvSpPr/>
          <p:nvPr/>
        </p:nvSpPr>
        <p:spPr>
          <a:xfrm>
            <a:off x="632281" y="5223560"/>
            <a:ext cx="33245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FFFFFF"/>
                </a:solidFill>
                <a:latin typeface="Manrope" pitchFamily="34" charset="0"/>
              </a:rPr>
              <a:t>Learnt how to use Gemini and Co-pilot to help developing some of programs</a:t>
            </a:r>
            <a:endParaRPr lang="en-US" sz="1750" dirty="0"/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33F7FF06-03C0-6F2D-79AF-CA115C1E3174}"/>
              </a:ext>
            </a:extLst>
          </p:cNvPr>
          <p:cNvSpPr/>
          <p:nvPr/>
        </p:nvSpPr>
        <p:spPr>
          <a:xfrm>
            <a:off x="4536281" y="2043701"/>
            <a:ext cx="3778210" cy="2032754"/>
          </a:xfrm>
          <a:prstGeom prst="roundRect">
            <a:avLst>
              <a:gd name="adj" fmla="val 1674"/>
            </a:avLst>
          </a:prstGeom>
          <a:solidFill>
            <a:srgbClr val="4042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79BE0B40-3AC4-280A-5662-DDB31AD9B997}"/>
              </a:ext>
            </a:extLst>
          </p:cNvPr>
          <p:cNvSpPr/>
          <p:nvPr/>
        </p:nvSpPr>
        <p:spPr>
          <a:xfrm>
            <a:off x="4864119" y="24350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Prata" pitchFamily="34" charset="0"/>
              </a:rPr>
              <a:t>Astro-Pi &amp; Raspberry Pi</a:t>
            </a:r>
            <a:endParaRPr lang="en-US" sz="2200" dirty="0"/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99CC75C5-4208-E7C2-D8EE-3D9BEEA7DAEC}"/>
              </a:ext>
            </a:extLst>
          </p:cNvPr>
          <p:cNvSpPr/>
          <p:nvPr/>
        </p:nvSpPr>
        <p:spPr>
          <a:xfrm>
            <a:off x="4864119" y="2925418"/>
            <a:ext cx="33245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FFFFFF"/>
                </a:solidFill>
                <a:latin typeface="Manrope" pitchFamily="34" charset="0"/>
              </a:rPr>
              <a:t>Our first time to touch a Raspberry Pi based device</a:t>
            </a:r>
            <a:endParaRPr lang="en-US" sz="1750" dirty="0"/>
          </a:p>
        </p:txBody>
      </p:sp>
      <p:sp>
        <p:nvSpPr>
          <p:cNvPr id="23" name="Shape 3">
            <a:extLst>
              <a:ext uri="{FF2B5EF4-FFF2-40B4-BE49-F238E27FC236}">
                <a16:creationId xmlns:a16="http://schemas.microsoft.com/office/drawing/2014/main" id="{732898F0-1E6B-C826-7519-333309EFECC8}"/>
              </a:ext>
            </a:extLst>
          </p:cNvPr>
          <p:cNvSpPr/>
          <p:nvPr/>
        </p:nvSpPr>
        <p:spPr>
          <a:xfrm>
            <a:off x="347286" y="6589971"/>
            <a:ext cx="7994093" cy="1550729"/>
          </a:xfrm>
          <a:prstGeom prst="roundRect">
            <a:avLst>
              <a:gd name="adj" fmla="val 1674"/>
            </a:avLst>
          </a:prstGeom>
          <a:solidFill>
            <a:srgbClr val="4042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B292A609-419E-D465-E72A-28488011BFD1}"/>
              </a:ext>
            </a:extLst>
          </p:cNvPr>
          <p:cNvSpPr/>
          <p:nvPr/>
        </p:nvSpPr>
        <p:spPr>
          <a:xfrm>
            <a:off x="632280" y="68130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Prata" pitchFamily="34" charset="0"/>
              </a:rPr>
              <a:t>Collaboration</a:t>
            </a:r>
            <a:endParaRPr lang="en-US" sz="2200" dirty="0"/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14CF1C1B-9E42-A87B-B0B7-392348D61B04}"/>
              </a:ext>
            </a:extLst>
          </p:cNvPr>
          <p:cNvSpPr/>
          <p:nvPr/>
        </p:nvSpPr>
        <p:spPr>
          <a:xfrm>
            <a:off x="632281" y="7256314"/>
            <a:ext cx="763936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FFFFFF"/>
                </a:solidFill>
                <a:latin typeface="Manrope" pitchFamily="34" charset="0"/>
              </a:rPr>
              <a:t>We learnt how to break down a complex task, </a:t>
            </a:r>
            <a:r>
              <a:rPr lang="en-US" altLang="zh-CN" sz="1750" dirty="0">
                <a:solidFill>
                  <a:srgbClr val="FFFFFF"/>
                </a:solidFill>
                <a:latin typeface="Manrope" pitchFamily="34" charset="0"/>
              </a:rPr>
              <a:t>divide the </a:t>
            </a:r>
            <a:r>
              <a:rPr lang="en-US" sz="1750" dirty="0">
                <a:solidFill>
                  <a:srgbClr val="FFFFFF"/>
                </a:solidFill>
                <a:latin typeface="Manrope" pitchFamily="34" charset="0"/>
              </a:rPr>
              <a:t> work  and cooperate to achieve a target</a:t>
            </a:r>
            <a:endParaRPr lang="en-US" sz="1750" dirty="0"/>
          </a:p>
        </p:txBody>
      </p:sp>
      <p:sp>
        <p:nvSpPr>
          <p:cNvPr id="26" name="Shape 3">
            <a:extLst>
              <a:ext uri="{FF2B5EF4-FFF2-40B4-BE49-F238E27FC236}">
                <a16:creationId xmlns:a16="http://schemas.microsoft.com/office/drawing/2014/main" id="{A1094DDF-1EC6-B0BC-D86F-3E63E7FAEAEF}"/>
              </a:ext>
            </a:extLst>
          </p:cNvPr>
          <p:cNvSpPr/>
          <p:nvPr/>
        </p:nvSpPr>
        <p:spPr>
          <a:xfrm>
            <a:off x="4563169" y="4341843"/>
            <a:ext cx="3778210" cy="2032754"/>
          </a:xfrm>
          <a:prstGeom prst="roundRect">
            <a:avLst>
              <a:gd name="adj" fmla="val 1674"/>
            </a:avLst>
          </a:prstGeom>
          <a:solidFill>
            <a:srgbClr val="4042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4C078B71-E5D9-A7ED-FEAE-3DD2F7B84BD0}"/>
              </a:ext>
            </a:extLst>
          </p:cNvPr>
          <p:cNvSpPr/>
          <p:nvPr/>
        </p:nvSpPr>
        <p:spPr>
          <a:xfrm>
            <a:off x="4891007" y="47331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Prata" pitchFamily="34" charset="0"/>
              </a:rPr>
              <a:t>Linux</a:t>
            </a:r>
            <a:endParaRPr lang="en-US" sz="2200" dirty="0"/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0195367E-FB3A-0BB9-B07A-3094EADE6101}"/>
              </a:ext>
            </a:extLst>
          </p:cNvPr>
          <p:cNvSpPr/>
          <p:nvPr/>
        </p:nvSpPr>
        <p:spPr>
          <a:xfrm>
            <a:off x="4891007" y="5223560"/>
            <a:ext cx="33245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FFFFFF"/>
                </a:solidFill>
                <a:latin typeface="Manrope" pitchFamily="34" charset="0"/>
              </a:rPr>
              <a:t>Our first time to use non-Windows platform</a:t>
            </a:r>
            <a:endParaRPr lang="en-US" sz="1750" dirty="0"/>
          </a:p>
        </p:txBody>
      </p:sp>
      <p:sp>
        <p:nvSpPr>
          <p:cNvPr id="32" name="Text 0">
            <a:extLst>
              <a:ext uri="{FF2B5EF4-FFF2-40B4-BE49-F238E27FC236}">
                <a16:creationId xmlns:a16="http://schemas.microsoft.com/office/drawing/2014/main" id="{6ECB7458-C0C1-C250-3851-31DB19558C47}"/>
              </a:ext>
            </a:extLst>
          </p:cNvPr>
          <p:cNvSpPr/>
          <p:nvPr/>
        </p:nvSpPr>
        <p:spPr>
          <a:xfrm>
            <a:off x="10398562" y="1772953"/>
            <a:ext cx="4231838" cy="2032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24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One day, I may be the first astronaut of HK landing on  Mars…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727331"/>
            <a:ext cx="667845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~ Thank you ~</a:t>
            </a:r>
            <a:endParaRPr lang="en-US" sz="4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369</Words>
  <Application>Microsoft Office PowerPoint</Application>
  <PresentationFormat>Custom</PresentationFormat>
  <Paragraphs>52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Prata</vt:lpstr>
      <vt:lpstr>Aptos Display</vt:lpstr>
      <vt:lpstr>Manrope</vt:lpstr>
      <vt:lpstr>Aptos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Hayden Lee</cp:lastModifiedBy>
  <cp:revision>8</cp:revision>
  <dcterms:created xsi:type="dcterms:W3CDTF">2026-02-08T09:41:33Z</dcterms:created>
  <dcterms:modified xsi:type="dcterms:W3CDTF">2026-02-08T15:33:45Z</dcterms:modified>
</cp:coreProperties>
</file>